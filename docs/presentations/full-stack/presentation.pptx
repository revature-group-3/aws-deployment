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IBM Plex Sans"/>
      <p:regular r:id="rId23"/>
      <p:bold r:id="rId24"/>
      <p:italic r:id="rId25"/>
      <p:boldItalic r:id="rId26"/>
    </p:embeddedFont>
    <p:embeddedFont>
      <p:font typeface="Sora SemiBold"/>
      <p:regular r:id="rId27"/>
      <p:bold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IBM Plex Sans Medium"/>
      <p:regular r:id="rId33"/>
      <p:bold r:id="rId34"/>
      <p:italic r:id="rId35"/>
      <p:boldItalic r:id="rId36"/>
    </p:embeddedFont>
    <p:embeddedFont>
      <p:font typeface="Sora Light"/>
      <p:regular r:id="rId37"/>
      <p:bold r:id="rId38"/>
    </p:embeddedFont>
    <p:embeddedFont>
      <p:font typeface="Sora ExtraLight"/>
      <p:regular r:id="rId39"/>
      <p:bold r:id="rId40"/>
    </p:embeddedFont>
    <p:embeddedFont>
      <p:font typeface="Sora"/>
      <p:regular r:id="rId41"/>
      <p:bold r:id="rId42"/>
    </p:embeddedFont>
    <p:embeddedFont>
      <p:font typeface="Sora Medium"/>
      <p:regular r:id="rId43"/>
      <p:bold r:id="rId44"/>
    </p:embeddedFont>
    <p:embeddedFont>
      <p:font typeface="IBM Plex Sans SemiBol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uper Duper Mega Ultra Saiyan"/>
  <p:cmAuthor clrIdx="1" id="1" initials="" lastIdx="1" name="Aarej Syed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ExtraLight-bold.fntdata"/><Relationship Id="rId42" Type="http://schemas.openxmlformats.org/officeDocument/2006/relationships/font" Target="fonts/Sora-bold.fntdata"/><Relationship Id="rId41" Type="http://schemas.openxmlformats.org/officeDocument/2006/relationships/font" Target="fonts/Sora-regular.fntdata"/><Relationship Id="rId44" Type="http://schemas.openxmlformats.org/officeDocument/2006/relationships/font" Target="fonts/SoraMedium-bold.fntdata"/><Relationship Id="rId43" Type="http://schemas.openxmlformats.org/officeDocument/2006/relationships/font" Target="fonts/SoraMedium-regular.fntdata"/><Relationship Id="rId46" Type="http://schemas.openxmlformats.org/officeDocument/2006/relationships/font" Target="fonts/IBMPlexSansSemiBold-bold.fntdata"/><Relationship Id="rId45" Type="http://schemas.openxmlformats.org/officeDocument/2006/relationships/font" Target="fonts/IBMPlexSa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font" Target="fonts/IBMPlexSansSemiBold-boldItalic.fntdata"/><Relationship Id="rId47" Type="http://schemas.openxmlformats.org/officeDocument/2006/relationships/font" Target="fonts/IBMPlexSans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33" Type="http://schemas.openxmlformats.org/officeDocument/2006/relationships/font" Target="fonts/IBMPlexSansMedium-regular.fntdata"/><Relationship Id="rId32" Type="http://schemas.openxmlformats.org/officeDocument/2006/relationships/font" Target="fonts/Roboto-boldItalic.fntdata"/><Relationship Id="rId35" Type="http://schemas.openxmlformats.org/officeDocument/2006/relationships/font" Target="fonts/IBMPlexSansMedium-italic.fntdata"/><Relationship Id="rId34" Type="http://schemas.openxmlformats.org/officeDocument/2006/relationships/font" Target="fonts/IBMPlexSansMedium-bold.fntdata"/><Relationship Id="rId37" Type="http://schemas.openxmlformats.org/officeDocument/2006/relationships/font" Target="fonts/SoraLight-regular.fntdata"/><Relationship Id="rId36" Type="http://schemas.openxmlformats.org/officeDocument/2006/relationships/font" Target="fonts/IBMPlexSansMedium-boldItalic.fntdata"/><Relationship Id="rId39" Type="http://schemas.openxmlformats.org/officeDocument/2006/relationships/font" Target="fonts/SoraExtraLight-regular.fntdata"/><Relationship Id="rId38" Type="http://schemas.openxmlformats.org/officeDocument/2006/relationships/font" Target="fonts/SoraLight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BMPlexSans-bold.fntdata"/><Relationship Id="rId23" Type="http://schemas.openxmlformats.org/officeDocument/2006/relationships/font" Target="fonts/IBMPlexSans-regular.fntdata"/><Relationship Id="rId26" Type="http://schemas.openxmlformats.org/officeDocument/2006/relationships/font" Target="fonts/IBMPlexSans-boldItalic.fntdata"/><Relationship Id="rId25" Type="http://schemas.openxmlformats.org/officeDocument/2006/relationships/font" Target="fonts/IBMPlexSans-italic.fntdata"/><Relationship Id="rId28" Type="http://schemas.openxmlformats.org/officeDocument/2006/relationships/font" Target="fonts/SoraSemiBold-bold.fntdata"/><Relationship Id="rId27" Type="http://schemas.openxmlformats.org/officeDocument/2006/relationships/font" Target="fonts/SoraSemiBold-regular.fntdata"/><Relationship Id="rId29" Type="http://schemas.openxmlformats.org/officeDocument/2006/relationships/font" Target="fonts/Roboto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22T19:47:07.074">
    <p:pos x="6000" y="0"/>
    <p:text>He wants us to highlight Cloudfront ECS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10-23T16:52:07.331">
    <p:pos x="6000" y="0"/>
    <p:text>Reviewer! What do you think of this slide?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h465741a8a4e4ea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h465741a8a4e4ea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h465741a8a4e4ea25_0_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h465741a8a4e4ea25_0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h465741a8a4e4ea25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h465741a8a4e4ea25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h465741a8a4e4ea25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h465741a8a4e4ea25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h465741a8a4e4ea2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h465741a8a4e4ea2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h138852b9575f408f_2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h138852b9575f408f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During registration, our backend validates the user's information and checks for duplicate email addresses. Instead of storing passwords directly, we use BCrypt to hash them.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a user logs in, Spring Security compares their submitted password against the stored hash. This allows us to verify their identity without ever needing to retrieve their original password.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included a test to ensure that security worked. It test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h465741a8a4e4ea25_0_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h465741a8a4e4ea25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h465741a8a4e4ea25_0_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h465741a8a4e4ea25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h138852b9575f408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h138852b9575f408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main responsibility was connecting our Angular frontend to the backend. Previously, login and registration used mock accounts, and transfers calculated balance changes locally. I refactored these features to send HTTP requests through our shared API service and handle the responses asynchronously.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h465741a8a4e4ea25_1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h465741a8a4e4ea25_1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h465741a8a4e4ea25_13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h465741a8a4e4ea25_13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h465741a8a4e4ea25_2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h465741a8a4e4ea25_2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h465741a8a4e4ea25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h465741a8a4e4ea25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h138852b9575f408f_3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h138852b9575f408f_3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h465741a8a4e4ea25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h465741a8a4e4ea25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h465741a8a4e4ea25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h465741a8a4e4ea25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2.xml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Revature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2026 / October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P2: Bank of CLI Full Stack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Group 3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96" name="Google Shape;896;p52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/ October</a:t>
            </a:r>
            <a:endParaRPr/>
          </a:p>
        </p:txBody>
      </p:sp>
      <p:sp>
        <p:nvSpPr>
          <p:cNvPr id="897" name="Google Shape;897;p52"/>
          <p:cNvSpPr txBox="1"/>
          <p:nvPr>
            <p:ph type="title"/>
          </p:nvPr>
        </p:nvSpPr>
        <p:spPr>
          <a:xfrm>
            <a:off x="38100" y="93150"/>
            <a:ext cx="23856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P2: Bank of CLI Full Stack</a:t>
            </a:r>
            <a:endParaRPr/>
          </a:p>
        </p:txBody>
      </p:sp>
      <p:sp>
        <p:nvSpPr>
          <p:cNvPr id="898" name="Google Shape;898;p52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899" name="Google Shape;899;p52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900" name="Google Shape;900;p52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Demos</a:t>
            </a:r>
            <a:endParaRPr/>
          </a:p>
        </p:txBody>
      </p:sp>
      <p:sp>
        <p:nvSpPr>
          <p:cNvPr id="901" name="Google Shape;901;p52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902" name="Google Shape;902;p52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903" name="Google Shape;903;p52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904" name="Google Shape;904;p52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Full-Stack Integration</a:t>
            </a:r>
            <a:endParaRPr/>
          </a:p>
        </p:txBody>
      </p:sp>
      <p:sp>
        <p:nvSpPr>
          <p:cNvPr id="905" name="Google Shape;905;p52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53"/>
          <p:cNvSpPr txBox="1"/>
          <p:nvPr>
            <p:ph type="title"/>
          </p:nvPr>
        </p:nvSpPr>
        <p:spPr>
          <a:xfrm>
            <a:off x="2662050" y="1393775"/>
            <a:ext cx="3819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Full-Stack Integration</a:t>
            </a:r>
            <a:endParaRPr sz="4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4"/>
          <p:cNvSpPr txBox="1"/>
          <p:nvPr>
            <p:ph idx="7" type="body"/>
          </p:nvPr>
        </p:nvSpPr>
        <p:spPr>
          <a:xfrm>
            <a:off x="2770900" y="2663325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Transactions are executed depending on the type the user chooses. Calls the Transaction Service and returns the completed transaction.</a:t>
            </a:r>
            <a:endParaRPr sz="1600">
              <a:solidFill>
                <a:srgbClr val="00FFFF"/>
              </a:solidFill>
            </a:endParaRPr>
          </a:p>
        </p:txBody>
      </p:sp>
      <p:sp>
        <p:nvSpPr>
          <p:cNvPr id="916" name="Google Shape;916;p54"/>
          <p:cNvSpPr/>
          <p:nvPr/>
        </p:nvSpPr>
        <p:spPr>
          <a:xfrm rot="5400000">
            <a:off x="2850925" y="15056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7" name="Google Shape;917;p54"/>
          <p:cNvSpPr/>
          <p:nvPr/>
        </p:nvSpPr>
        <p:spPr>
          <a:xfrm rot="5400000">
            <a:off x="831000" y="15056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8" name="Google Shape;918;p54"/>
          <p:cNvSpPr/>
          <p:nvPr/>
        </p:nvSpPr>
        <p:spPr>
          <a:xfrm rot="5400000">
            <a:off x="4870875" y="15056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9" name="Google Shape;919;p54"/>
          <p:cNvSpPr/>
          <p:nvPr/>
        </p:nvSpPr>
        <p:spPr>
          <a:xfrm rot="5400000">
            <a:off x="6890825" y="15056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20" name="Google Shape;920;p54"/>
          <p:cNvSpPr txBox="1"/>
          <p:nvPr>
            <p:ph idx="18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/ October</a:t>
            </a:r>
            <a:endParaRPr/>
          </a:p>
        </p:txBody>
      </p:sp>
      <p:sp>
        <p:nvSpPr>
          <p:cNvPr id="921" name="Google Shape;921;p54"/>
          <p:cNvSpPr txBox="1"/>
          <p:nvPr>
            <p:ph type="title"/>
          </p:nvPr>
        </p:nvSpPr>
        <p:spPr>
          <a:xfrm>
            <a:off x="752100" y="2143113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Accounts</a:t>
            </a:r>
            <a:endParaRPr/>
          </a:p>
        </p:txBody>
      </p:sp>
      <p:sp>
        <p:nvSpPr>
          <p:cNvPr id="922" name="Google Shape;922;p54"/>
          <p:cNvSpPr txBox="1"/>
          <p:nvPr>
            <p:ph idx="2" type="title"/>
          </p:nvPr>
        </p:nvSpPr>
        <p:spPr>
          <a:xfrm>
            <a:off x="2770900" y="21431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Transactions</a:t>
            </a:r>
            <a:endParaRPr/>
          </a:p>
        </p:txBody>
      </p:sp>
      <p:sp>
        <p:nvSpPr>
          <p:cNvPr id="923" name="Google Shape;923;p54"/>
          <p:cNvSpPr txBox="1"/>
          <p:nvPr>
            <p:ph idx="3" type="title"/>
          </p:nvPr>
        </p:nvSpPr>
        <p:spPr>
          <a:xfrm>
            <a:off x="4789700" y="21431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 History</a:t>
            </a:r>
            <a:endParaRPr/>
          </a:p>
        </p:txBody>
      </p:sp>
      <p:sp>
        <p:nvSpPr>
          <p:cNvPr id="924" name="Google Shape;924;p54"/>
          <p:cNvSpPr txBox="1"/>
          <p:nvPr>
            <p:ph idx="4" type="title"/>
          </p:nvPr>
        </p:nvSpPr>
        <p:spPr>
          <a:xfrm>
            <a:off x="6808500" y="21431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</a:t>
            </a:r>
            <a:endParaRPr/>
          </a:p>
        </p:txBody>
      </p:sp>
      <p:sp>
        <p:nvSpPr>
          <p:cNvPr id="925" name="Google Shape;925;p54"/>
          <p:cNvSpPr txBox="1"/>
          <p:nvPr>
            <p:ph idx="5" type="title"/>
          </p:nvPr>
        </p:nvSpPr>
        <p:spPr>
          <a:xfrm>
            <a:off x="38100" y="93150"/>
            <a:ext cx="21978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P2: Bank of CLI Full Stack</a:t>
            </a:r>
            <a:endParaRPr/>
          </a:p>
        </p:txBody>
      </p:sp>
      <p:sp>
        <p:nvSpPr>
          <p:cNvPr id="926" name="Google Shape;926;p54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communication between the frontend and backend</a:t>
            </a:r>
            <a:endParaRPr/>
          </a:p>
        </p:txBody>
      </p:sp>
      <p:sp>
        <p:nvSpPr>
          <p:cNvPr id="927" name="Google Shape;927;p54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</a:t>
            </a:r>
            <a:endParaRPr/>
          </a:p>
        </p:txBody>
      </p:sp>
      <p:sp>
        <p:nvSpPr>
          <p:cNvPr id="928" name="Google Shape;928;p54"/>
          <p:cNvSpPr txBox="1"/>
          <p:nvPr>
            <p:ph idx="8" type="body"/>
          </p:nvPr>
        </p:nvSpPr>
        <p:spPr>
          <a:xfrm>
            <a:off x="4789700" y="2663325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backend returns an updated list of past transactions to display in a table on the dashboard.</a:t>
            </a:r>
            <a:endParaRPr/>
          </a:p>
        </p:txBody>
      </p:sp>
      <p:sp>
        <p:nvSpPr>
          <p:cNvPr id="929" name="Google Shape;929;p54"/>
          <p:cNvSpPr txBox="1"/>
          <p:nvPr>
            <p:ph idx="9" type="body"/>
          </p:nvPr>
        </p:nvSpPr>
        <p:spPr>
          <a:xfrm>
            <a:off x="6808500" y="2663325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is returned to the frontend along with </a:t>
            </a:r>
            <a:r>
              <a:rPr lang="en"/>
              <a:t>transaction</a:t>
            </a:r>
            <a:r>
              <a:rPr lang="en"/>
              <a:t> responses instead of being calculated </a:t>
            </a:r>
            <a:r>
              <a:rPr lang="en"/>
              <a:t>locally, to remain in sync with the database.</a:t>
            </a:r>
            <a:endParaRPr/>
          </a:p>
        </p:txBody>
      </p:sp>
      <p:sp>
        <p:nvSpPr>
          <p:cNvPr id="930" name="Google Shape;930;p54"/>
          <p:cNvSpPr txBox="1"/>
          <p:nvPr>
            <p:ph idx="13" type="title"/>
          </p:nvPr>
        </p:nvSpPr>
        <p:spPr>
          <a:xfrm>
            <a:off x="752100" y="15845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31" name="Google Shape;931;p54"/>
          <p:cNvSpPr txBox="1"/>
          <p:nvPr>
            <p:ph idx="14" type="title"/>
          </p:nvPr>
        </p:nvSpPr>
        <p:spPr>
          <a:xfrm>
            <a:off x="2772025" y="15845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32" name="Google Shape;932;p54"/>
          <p:cNvSpPr txBox="1"/>
          <p:nvPr>
            <p:ph idx="15" type="title"/>
          </p:nvPr>
        </p:nvSpPr>
        <p:spPr>
          <a:xfrm>
            <a:off x="4791975" y="15845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33" name="Google Shape;933;p54"/>
          <p:cNvSpPr txBox="1"/>
          <p:nvPr>
            <p:ph idx="16" type="title"/>
          </p:nvPr>
        </p:nvSpPr>
        <p:spPr>
          <a:xfrm>
            <a:off x="6811925" y="15845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934" name="Google Shape;934;p54"/>
          <p:cNvSpPr txBox="1"/>
          <p:nvPr>
            <p:ph idx="7" type="body"/>
          </p:nvPr>
        </p:nvSpPr>
        <p:spPr>
          <a:xfrm>
            <a:off x="752100" y="2663325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register and login through /api/auth. Backend validates the request and returns the account details along with a JWT. Frontend sends that token with every request to prove who the user is.</a:t>
            </a:r>
            <a:endParaRPr sz="16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5"/>
          <p:cNvSpPr/>
          <p:nvPr/>
        </p:nvSpPr>
        <p:spPr>
          <a:xfrm flipH="1" rot="10800000">
            <a:off x="3820743" y="1919229"/>
            <a:ext cx="5323200" cy="168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0" name="Google Shape;940;p55"/>
          <p:cNvSpPr/>
          <p:nvPr/>
        </p:nvSpPr>
        <p:spPr>
          <a:xfrm flipH="1" rot="10800000">
            <a:off x="3820743" y="2642828"/>
            <a:ext cx="5323200" cy="168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1" name="Google Shape;941;p55"/>
          <p:cNvSpPr/>
          <p:nvPr/>
        </p:nvSpPr>
        <p:spPr>
          <a:xfrm>
            <a:off x="228600" y="1378150"/>
            <a:ext cx="739800" cy="375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2" name="Google Shape;942;p55"/>
          <p:cNvSpPr/>
          <p:nvPr/>
        </p:nvSpPr>
        <p:spPr>
          <a:xfrm>
            <a:off x="228600" y="2101773"/>
            <a:ext cx="739800" cy="375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3" name="Google Shape;943;p55"/>
          <p:cNvSpPr/>
          <p:nvPr/>
        </p:nvSpPr>
        <p:spPr>
          <a:xfrm>
            <a:off x="228600" y="2825396"/>
            <a:ext cx="739800" cy="375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4" name="Google Shape;944;p55"/>
          <p:cNvSpPr/>
          <p:nvPr/>
        </p:nvSpPr>
        <p:spPr>
          <a:xfrm flipH="1" rot="10800000">
            <a:off x="3820743" y="1218887"/>
            <a:ext cx="5323200" cy="168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5" name="Google Shape;945;p55"/>
          <p:cNvSpPr txBox="1"/>
          <p:nvPr>
            <p:ph idx="3" type="title"/>
          </p:nvPr>
        </p:nvSpPr>
        <p:spPr>
          <a:xfrm>
            <a:off x="1129948" y="1257703"/>
            <a:ext cx="20247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Authentication</a:t>
            </a:r>
            <a:endParaRPr/>
          </a:p>
        </p:txBody>
      </p:sp>
      <p:sp>
        <p:nvSpPr>
          <p:cNvPr id="946" name="Google Shape;946;p55"/>
          <p:cNvSpPr txBox="1"/>
          <p:nvPr>
            <p:ph idx="6" type="title"/>
          </p:nvPr>
        </p:nvSpPr>
        <p:spPr>
          <a:xfrm>
            <a:off x="3820750" y="1257700"/>
            <a:ext cx="4113300" cy="616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log in using their registered email and passwords.</a:t>
            </a:r>
            <a:endParaRPr/>
          </a:p>
        </p:txBody>
      </p:sp>
      <p:sp>
        <p:nvSpPr>
          <p:cNvPr id="947" name="Google Shape;947;p55"/>
          <p:cNvSpPr txBox="1"/>
          <p:nvPr>
            <p:ph idx="7" type="title"/>
          </p:nvPr>
        </p:nvSpPr>
        <p:spPr>
          <a:xfrm>
            <a:off x="3820752" y="1981300"/>
            <a:ext cx="4268700" cy="616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Passwords are securely hashed rather than stored in plaintext.</a:t>
            </a:r>
            <a:endParaRPr/>
          </a:p>
        </p:txBody>
      </p:sp>
      <p:sp>
        <p:nvSpPr>
          <p:cNvPr id="948" name="Google Shape;948;p55"/>
          <p:cNvSpPr txBox="1"/>
          <p:nvPr>
            <p:ph idx="8" type="title"/>
          </p:nvPr>
        </p:nvSpPr>
        <p:spPr>
          <a:xfrm>
            <a:off x="3820752" y="2704900"/>
            <a:ext cx="4196100" cy="616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</a:t>
            </a:r>
            <a:r>
              <a:rPr lang="en"/>
              <a:t>successful</a:t>
            </a:r>
            <a:r>
              <a:rPr lang="en"/>
              <a:t> login, the backend generates a signed JSON Web Token.</a:t>
            </a:r>
            <a:endParaRPr/>
          </a:p>
        </p:txBody>
      </p:sp>
      <p:sp>
        <p:nvSpPr>
          <p:cNvPr id="949" name="Google Shape;949;p55"/>
          <p:cNvSpPr txBox="1"/>
          <p:nvPr>
            <p:ph idx="4" type="title"/>
          </p:nvPr>
        </p:nvSpPr>
        <p:spPr>
          <a:xfrm>
            <a:off x="1129948" y="1981349"/>
            <a:ext cx="20247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 Protection</a:t>
            </a:r>
            <a:endParaRPr/>
          </a:p>
        </p:txBody>
      </p:sp>
      <p:sp>
        <p:nvSpPr>
          <p:cNvPr id="950" name="Google Shape;950;p55"/>
          <p:cNvSpPr txBox="1"/>
          <p:nvPr>
            <p:ph idx="5" type="title"/>
          </p:nvPr>
        </p:nvSpPr>
        <p:spPr>
          <a:xfrm>
            <a:off x="1129948" y="2704996"/>
            <a:ext cx="20247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JWT Generation</a:t>
            </a:r>
            <a:endParaRPr/>
          </a:p>
        </p:txBody>
      </p:sp>
      <p:sp>
        <p:nvSpPr>
          <p:cNvPr id="951" name="Google Shape;951;p55"/>
          <p:cNvSpPr txBox="1"/>
          <p:nvPr>
            <p:ph idx="9" type="title"/>
          </p:nvPr>
        </p:nvSpPr>
        <p:spPr>
          <a:xfrm>
            <a:off x="38100" y="93150"/>
            <a:ext cx="21249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P2: Bank of CLI Full Stack</a:t>
            </a:r>
            <a:endParaRPr/>
          </a:p>
        </p:txBody>
      </p:sp>
      <p:sp>
        <p:nvSpPr>
          <p:cNvPr id="952" name="Google Shape;952;p55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JWT Security</a:t>
            </a:r>
            <a:endParaRPr/>
          </a:p>
        </p:txBody>
      </p:sp>
      <p:sp>
        <p:nvSpPr>
          <p:cNvPr id="953" name="Google Shape;953;p55"/>
          <p:cNvSpPr txBox="1"/>
          <p:nvPr>
            <p:ph idx="14" type="title"/>
          </p:nvPr>
        </p:nvSpPr>
        <p:spPr>
          <a:xfrm>
            <a:off x="228600" y="1378195"/>
            <a:ext cx="739800" cy="37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54" name="Google Shape;954;p55"/>
          <p:cNvSpPr txBox="1"/>
          <p:nvPr>
            <p:ph idx="16" type="title"/>
          </p:nvPr>
        </p:nvSpPr>
        <p:spPr>
          <a:xfrm>
            <a:off x="228600" y="2101772"/>
            <a:ext cx="739800" cy="37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55" name="Google Shape;955;p55"/>
          <p:cNvSpPr txBox="1"/>
          <p:nvPr>
            <p:ph idx="17" type="title"/>
          </p:nvPr>
        </p:nvSpPr>
        <p:spPr>
          <a:xfrm>
            <a:off x="228600" y="2825349"/>
            <a:ext cx="739800" cy="37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56" name="Google Shape;956;p55"/>
          <p:cNvSpPr/>
          <p:nvPr/>
        </p:nvSpPr>
        <p:spPr>
          <a:xfrm flipH="1" rot="10800000">
            <a:off x="3823454" y="3366402"/>
            <a:ext cx="5323200" cy="168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7" name="Google Shape;957;p55"/>
          <p:cNvSpPr/>
          <p:nvPr/>
        </p:nvSpPr>
        <p:spPr>
          <a:xfrm>
            <a:off x="231311" y="2825346"/>
            <a:ext cx="739800" cy="375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8" name="Google Shape;958;p55"/>
          <p:cNvSpPr/>
          <p:nvPr/>
        </p:nvSpPr>
        <p:spPr>
          <a:xfrm>
            <a:off x="231311" y="3548969"/>
            <a:ext cx="739800" cy="375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9" name="Google Shape;959;p55"/>
          <p:cNvSpPr txBox="1"/>
          <p:nvPr>
            <p:ph idx="8" type="title"/>
          </p:nvPr>
        </p:nvSpPr>
        <p:spPr>
          <a:xfrm>
            <a:off x="3823449" y="3428475"/>
            <a:ext cx="4113300" cy="616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frontend includes the JWT in Authorization header </a:t>
            </a:r>
            <a:r>
              <a:rPr lang="en"/>
              <a:t>when</a:t>
            </a:r>
            <a:r>
              <a:rPr lang="en"/>
              <a:t> accessing secured endpoints.</a:t>
            </a:r>
            <a:endParaRPr/>
          </a:p>
        </p:txBody>
      </p:sp>
      <p:sp>
        <p:nvSpPr>
          <p:cNvPr id="960" name="Google Shape;960;p55"/>
          <p:cNvSpPr txBox="1"/>
          <p:nvPr>
            <p:ph idx="5" type="title"/>
          </p:nvPr>
        </p:nvSpPr>
        <p:spPr>
          <a:xfrm>
            <a:off x="1132659" y="3428569"/>
            <a:ext cx="20247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Protected API Endpoints</a:t>
            </a:r>
            <a:endParaRPr/>
          </a:p>
        </p:txBody>
      </p:sp>
      <p:sp>
        <p:nvSpPr>
          <p:cNvPr id="961" name="Google Shape;961;p55"/>
          <p:cNvSpPr txBox="1"/>
          <p:nvPr>
            <p:ph idx="17" type="title"/>
          </p:nvPr>
        </p:nvSpPr>
        <p:spPr>
          <a:xfrm>
            <a:off x="231311" y="3548923"/>
            <a:ext cx="739800" cy="37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962" name="Google Shape;962;p55"/>
          <p:cNvSpPr/>
          <p:nvPr/>
        </p:nvSpPr>
        <p:spPr>
          <a:xfrm>
            <a:off x="232368" y="3549296"/>
            <a:ext cx="739800" cy="375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3" name="Google Shape;963;p55"/>
          <p:cNvSpPr/>
          <p:nvPr/>
        </p:nvSpPr>
        <p:spPr>
          <a:xfrm flipH="1" rot="10800000">
            <a:off x="3827222" y="4090302"/>
            <a:ext cx="5323200" cy="168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4" name="Google Shape;964;p55"/>
          <p:cNvSpPr/>
          <p:nvPr/>
        </p:nvSpPr>
        <p:spPr>
          <a:xfrm>
            <a:off x="235079" y="4272869"/>
            <a:ext cx="739800" cy="375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5" name="Google Shape;965;p55"/>
          <p:cNvSpPr txBox="1"/>
          <p:nvPr>
            <p:ph idx="8" type="title"/>
          </p:nvPr>
        </p:nvSpPr>
        <p:spPr>
          <a:xfrm>
            <a:off x="3827225" y="4152375"/>
            <a:ext cx="4268700" cy="616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Security validates the token, allowing users to access protected banking features without maintaining server-side login sessions.</a:t>
            </a:r>
            <a:endParaRPr/>
          </a:p>
        </p:txBody>
      </p:sp>
      <p:sp>
        <p:nvSpPr>
          <p:cNvPr id="966" name="Google Shape;966;p55"/>
          <p:cNvSpPr txBox="1"/>
          <p:nvPr>
            <p:ph idx="5" type="title"/>
          </p:nvPr>
        </p:nvSpPr>
        <p:spPr>
          <a:xfrm>
            <a:off x="1136427" y="4152469"/>
            <a:ext cx="20247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Stateless Authentication</a:t>
            </a:r>
            <a:endParaRPr/>
          </a:p>
        </p:txBody>
      </p:sp>
      <p:sp>
        <p:nvSpPr>
          <p:cNvPr id="967" name="Google Shape;967;p55"/>
          <p:cNvSpPr txBox="1"/>
          <p:nvPr>
            <p:ph idx="17" type="title"/>
          </p:nvPr>
        </p:nvSpPr>
        <p:spPr>
          <a:xfrm>
            <a:off x="235079" y="4272823"/>
            <a:ext cx="739800" cy="37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968" name="Google Shape;968;p55"/>
          <p:cNvSpPr txBox="1"/>
          <p:nvPr>
            <p:ph type="title"/>
          </p:nvPr>
        </p:nvSpPr>
        <p:spPr>
          <a:xfrm>
            <a:off x="149500" y="4840029"/>
            <a:ext cx="1939200" cy="1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2026 / October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56"/>
          <p:cNvSpPr txBox="1"/>
          <p:nvPr>
            <p:ph idx="1" type="subTitle"/>
          </p:nvPr>
        </p:nvSpPr>
        <p:spPr>
          <a:xfrm>
            <a:off x="112025" y="1061964"/>
            <a:ext cx="5596200" cy="32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Secure Registration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Validates user information before account creation.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Prevents duplicate accounts by checking registered email addresses.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Uses BCrypt to hash passwords before storing them in the database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Secure Login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Authenticates users using their registered email and password.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Uses Spring Security’s  </a:t>
            </a:r>
            <a:r>
              <a:rPr b="1" lang="en"/>
              <a:t>PasswordEncoder 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to compare passwords against stored hashes.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Rejects invalid Credentials to prevent unauthorized access.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Testing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We wrote a simple test for the authorization services using Mockito.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74" name="Google Shape;974;p5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/ October</a:t>
            </a:r>
            <a:endParaRPr/>
          </a:p>
        </p:txBody>
      </p:sp>
      <p:sp>
        <p:nvSpPr>
          <p:cNvPr id="975" name="Google Shape;975;p56"/>
          <p:cNvSpPr txBox="1"/>
          <p:nvPr>
            <p:ph idx="2" type="title"/>
          </p:nvPr>
        </p:nvSpPr>
        <p:spPr>
          <a:xfrm>
            <a:off x="38100" y="93150"/>
            <a:ext cx="20076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P2: Bank of CLI Full Stack</a:t>
            </a:r>
            <a:endParaRPr/>
          </a:p>
        </p:txBody>
      </p:sp>
      <p:sp>
        <p:nvSpPr>
          <p:cNvPr id="976" name="Google Shape;976;p56"/>
          <p:cNvSpPr txBox="1"/>
          <p:nvPr>
            <p:ph type="title"/>
          </p:nvPr>
        </p:nvSpPr>
        <p:spPr>
          <a:xfrm>
            <a:off x="96025" y="404868"/>
            <a:ext cx="6507000" cy="9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Security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57"/>
          <p:cNvSpPr txBox="1"/>
          <p:nvPr>
            <p:ph type="title"/>
          </p:nvPr>
        </p:nvSpPr>
        <p:spPr>
          <a:xfrm>
            <a:off x="2662050" y="1670000"/>
            <a:ext cx="38199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Architecture</a:t>
            </a:r>
            <a:endParaRPr sz="4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6" name="Google Shape;986;p58"/>
          <p:cNvCxnSpPr/>
          <p:nvPr/>
        </p:nvCxnSpPr>
        <p:spPr>
          <a:xfrm>
            <a:off x="682863" y="2676625"/>
            <a:ext cx="7298400" cy="1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7" name="Google Shape;987;p58"/>
          <p:cNvSpPr/>
          <p:nvPr/>
        </p:nvSpPr>
        <p:spPr>
          <a:xfrm>
            <a:off x="235030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8" name="Google Shape;988;p58"/>
          <p:cNvSpPr/>
          <p:nvPr/>
        </p:nvSpPr>
        <p:spPr>
          <a:xfrm>
            <a:off x="42150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9" name="Google Shape;989;p58"/>
          <p:cNvSpPr/>
          <p:nvPr/>
        </p:nvSpPr>
        <p:spPr>
          <a:xfrm>
            <a:off x="6214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0" name="Google Shape;990;p58"/>
          <p:cNvSpPr/>
          <p:nvPr/>
        </p:nvSpPr>
        <p:spPr>
          <a:xfrm>
            <a:off x="6089013" y="249603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1" name="Google Shape;991;p58"/>
          <p:cNvSpPr/>
          <p:nvPr/>
        </p:nvSpPr>
        <p:spPr>
          <a:xfrm>
            <a:off x="7808800" y="2496025"/>
            <a:ext cx="361200" cy="361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2" name="Google Shape;992;p58"/>
          <p:cNvSpPr txBox="1"/>
          <p:nvPr>
            <p:ph idx="2" type="title"/>
          </p:nvPr>
        </p:nvSpPr>
        <p:spPr>
          <a:xfrm>
            <a:off x="38100" y="93150"/>
            <a:ext cx="20781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P2: Bank of CLI Full Stack</a:t>
            </a:r>
            <a:endParaRPr/>
          </a:p>
        </p:txBody>
      </p:sp>
      <p:sp>
        <p:nvSpPr>
          <p:cNvPr id="993" name="Google Shape;993;p58"/>
          <p:cNvSpPr txBox="1"/>
          <p:nvPr>
            <p:ph idx="5" type="title"/>
          </p:nvPr>
        </p:nvSpPr>
        <p:spPr>
          <a:xfrm>
            <a:off x="328000" y="1539746"/>
            <a:ext cx="10152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Database: </a:t>
            </a:r>
            <a:r>
              <a:rPr lang="en"/>
              <a:t>A</a:t>
            </a:r>
            <a:r>
              <a:rPr lang="en"/>
              <a:t>WS, ECS, PostgreSQL</a:t>
            </a:r>
            <a:endParaRPr/>
          </a:p>
        </p:txBody>
      </p:sp>
      <p:sp>
        <p:nvSpPr>
          <p:cNvPr id="994" name="Google Shape;994;p58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Hosts the database online </a:t>
            </a:r>
            <a:r>
              <a:rPr lang="en"/>
              <a:t>via </a:t>
            </a:r>
            <a:r>
              <a:rPr lang="en"/>
              <a:t>Cloudfront instead of locally</a:t>
            </a:r>
            <a:endParaRPr/>
          </a:p>
        </p:txBody>
      </p:sp>
      <p:sp>
        <p:nvSpPr>
          <p:cNvPr id="995" name="Google Shape;995;p58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/ October</a:t>
            </a:r>
            <a:endParaRPr/>
          </a:p>
        </p:txBody>
      </p:sp>
      <p:sp>
        <p:nvSpPr>
          <p:cNvPr id="996" name="Google Shape;996;p58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997" name="Google Shape;997;p58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Stateless, scalable, decentralized verification of user identity</a:t>
            </a:r>
            <a:endParaRPr/>
          </a:p>
        </p:txBody>
      </p:sp>
      <p:sp>
        <p:nvSpPr>
          <p:cNvPr id="998" name="Google Shape;998;p58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Standard, stateless HTTP methods for CRUD, and allows client-server decoupling</a:t>
            </a:r>
            <a:endParaRPr/>
          </a:p>
        </p:txBody>
      </p:sp>
      <p:sp>
        <p:nvSpPr>
          <p:cNvPr id="999" name="Google Shape;999;p58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Automatically configures dependencies</a:t>
            </a:r>
            <a:r>
              <a:rPr lang="en"/>
              <a:t> with Maven</a:t>
            </a:r>
            <a:endParaRPr/>
          </a:p>
        </p:txBody>
      </p:sp>
      <p:sp>
        <p:nvSpPr>
          <p:cNvPr id="1000" name="Google Shape;1000;p58"/>
          <p:cNvSpPr txBox="1"/>
          <p:nvPr>
            <p:ph idx="9" type="body"/>
          </p:nvPr>
        </p:nvSpPr>
        <p:spPr>
          <a:xfrm>
            <a:off x="7245550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two frontends from P1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 connect to the same backend</a:t>
            </a:r>
            <a:endParaRPr/>
          </a:p>
        </p:txBody>
      </p:sp>
      <p:sp>
        <p:nvSpPr>
          <p:cNvPr id="1001" name="Google Shape;1001;p58"/>
          <p:cNvSpPr txBox="1"/>
          <p:nvPr>
            <p:ph idx="5" type="title"/>
          </p:nvPr>
        </p:nvSpPr>
        <p:spPr>
          <a:xfrm>
            <a:off x="2021825" y="1609096"/>
            <a:ext cx="10152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Backend: </a:t>
            </a:r>
            <a:r>
              <a:rPr lang="en"/>
              <a:t>Spring Boot (Java)</a:t>
            </a:r>
            <a:endParaRPr/>
          </a:p>
        </p:txBody>
      </p:sp>
      <p:sp>
        <p:nvSpPr>
          <p:cNvPr id="1002" name="Google Shape;1002;p58"/>
          <p:cNvSpPr txBox="1"/>
          <p:nvPr>
            <p:ph idx="5" type="title"/>
          </p:nvPr>
        </p:nvSpPr>
        <p:spPr>
          <a:xfrm>
            <a:off x="3647350" y="1609100"/>
            <a:ext cx="14877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Security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:</a:t>
            </a:r>
            <a:r>
              <a:rPr lang="en"/>
              <a:t> JWT (JSON Web Tokens)</a:t>
            </a:r>
            <a:endParaRPr/>
          </a:p>
        </p:txBody>
      </p:sp>
      <p:sp>
        <p:nvSpPr>
          <p:cNvPr id="1003" name="Google Shape;1003;p58"/>
          <p:cNvSpPr txBox="1"/>
          <p:nvPr>
            <p:ph idx="5" type="title"/>
          </p:nvPr>
        </p:nvSpPr>
        <p:spPr>
          <a:xfrm>
            <a:off x="5565675" y="1758813"/>
            <a:ext cx="1487700" cy="6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Communication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: </a:t>
            </a:r>
            <a:r>
              <a:rPr lang="en"/>
              <a:t>REST / JSON</a:t>
            </a:r>
            <a:endParaRPr/>
          </a:p>
        </p:txBody>
      </p:sp>
      <p:sp>
        <p:nvSpPr>
          <p:cNvPr id="1004" name="Google Shape;1004;p58"/>
          <p:cNvSpPr txBox="1"/>
          <p:nvPr>
            <p:ph idx="5" type="title"/>
          </p:nvPr>
        </p:nvSpPr>
        <p:spPr>
          <a:xfrm>
            <a:off x="7439200" y="1609100"/>
            <a:ext cx="10962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Frontend: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"/>
              <a:t>React and Angular (TypeScript)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59"/>
          <p:cNvSpPr txBox="1"/>
          <p:nvPr>
            <p:ph idx="15" type="title"/>
          </p:nvPr>
        </p:nvSpPr>
        <p:spPr>
          <a:xfrm>
            <a:off x="38100" y="93150"/>
            <a:ext cx="1939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P2: Bank of CLI Full Stack</a:t>
            </a:r>
            <a:endParaRPr/>
          </a:p>
        </p:txBody>
      </p:sp>
      <p:sp>
        <p:nvSpPr>
          <p:cNvPr id="1010" name="Google Shape;1010;p59"/>
          <p:cNvSpPr txBox="1"/>
          <p:nvPr>
            <p:ph idx="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/ October</a:t>
            </a:r>
            <a:endParaRPr/>
          </a:p>
        </p:txBody>
      </p:sp>
      <p:sp>
        <p:nvSpPr>
          <p:cNvPr id="1011" name="Google Shape;1011;p59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Angular</a:t>
            </a:r>
            <a:r>
              <a:rPr lang="en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Integration</a:t>
            </a:r>
            <a:endParaRPr sz="3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2" name="Google Shape;1012;p59"/>
          <p:cNvSpPr txBox="1"/>
          <p:nvPr>
            <p:ph idx="4294967295" type="body"/>
          </p:nvPr>
        </p:nvSpPr>
        <p:spPr>
          <a:xfrm>
            <a:off x="228600" y="1801500"/>
            <a:ext cx="28875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Refactored login, registration, and transfers to communicate with the Spring Boot REST API using Angular’s HttpClient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Centralized HTTP requests in a shared injectable service, using Observables to handle backend responses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13" name="Google Shape;1013;p59"/>
          <p:cNvPicPr preferRelativeResize="0"/>
          <p:nvPr/>
        </p:nvPicPr>
        <p:blipFill rotWithShape="1">
          <a:blip r:embed="rId3">
            <a:alphaModFix/>
          </a:blip>
          <a:srcRect b="0" l="0" r="3251" t="0"/>
          <a:stretch/>
        </p:blipFill>
        <p:spPr>
          <a:xfrm>
            <a:off x="4754475" y="471100"/>
            <a:ext cx="2831774" cy="266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9175" y="3419425"/>
            <a:ext cx="5142373" cy="135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0"/>
          <p:cNvSpPr txBox="1"/>
          <p:nvPr>
            <p:ph idx="15" type="title"/>
          </p:nvPr>
        </p:nvSpPr>
        <p:spPr>
          <a:xfrm>
            <a:off x="38100" y="93150"/>
            <a:ext cx="1939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P2: Bank of CLI Full Stack</a:t>
            </a:r>
            <a:endParaRPr/>
          </a:p>
        </p:txBody>
      </p:sp>
      <p:sp>
        <p:nvSpPr>
          <p:cNvPr id="1020" name="Google Shape;1020;p60"/>
          <p:cNvSpPr/>
          <p:nvPr/>
        </p:nvSpPr>
        <p:spPr>
          <a:xfrm flipH="1" rot="10800000">
            <a:off x="3820750" y="1627625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1" name="Google Shape;1021;p60"/>
          <p:cNvSpPr txBox="1"/>
          <p:nvPr>
            <p:ph idx="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/ October</a:t>
            </a:r>
            <a:endParaRPr/>
          </a:p>
        </p:txBody>
      </p:sp>
      <p:sp>
        <p:nvSpPr>
          <p:cNvPr id="1022" name="Google Shape;1022;p60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React Integration</a:t>
            </a:r>
            <a:endParaRPr sz="3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23" name="Google Shape;102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7283" y="3449733"/>
            <a:ext cx="5246826" cy="129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8716" y="502775"/>
            <a:ext cx="2683950" cy="2474527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60"/>
          <p:cNvSpPr txBox="1"/>
          <p:nvPr>
            <p:ph idx="4294967295" type="body"/>
          </p:nvPr>
        </p:nvSpPr>
        <p:spPr>
          <a:xfrm>
            <a:off x="228600" y="1801500"/>
            <a:ext cx="2887500" cy="25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Mock database calls in our React project were refactored to route through our REST endpoints using the fetch API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One file stores and exposes all API-related functionality, making the logic more maintainable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These methods are imported as needed into components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61"/>
          <p:cNvSpPr txBox="1"/>
          <p:nvPr>
            <p:ph type="title"/>
          </p:nvPr>
        </p:nvSpPr>
        <p:spPr>
          <a:xfrm>
            <a:off x="38100" y="93150"/>
            <a:ext cx="18279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P2: Bank of CLI Full Stack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1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/ October</a:t>
            </a:r>
            <a:endParaRPr/>
          </a:p>
        </p:txBody>
      </p:sp>
      <p:pic>
        <p:nvPicPr>
          <p:cNvPr id="1032" name="Google Shape;103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475" y="1596250"/>
            <a:ext cx="3852049" cy="2355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61"/>
          <p:cNvSpPr txBox="1"/>
          <p:nvPr/>
        </p:nvSpPr>
        <p:spPr>
          <a:xfrm>
            <a:off x="4470225" y="1895400"/>
            <a:ext cx="3391200" cy="24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HTTP Methods: GET retrieves data, POST creates data, PUT/PATCH updates data, and DELETE removes data.</a:t>
            </a:r>
            <a:endParaRPr sz="10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Endpoints: URLs identify resources, such as /api/accounts or /api/account/[transaction_type].</a:t>
            </a:r>
            <a:endParaRPr sz="10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JSON: A common format for exchanging structured data between the frontend and backend.</a:t>
            </a:r>
            <a:endParaRPr sz="10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HTTP Status Codes: Communicate results, such as 200 (OK), 201 (Created), 400 (Bad Request), and 404 (Not Found).</a:t>
            </a:r>
            <a:endParaRPr sz="10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34" name="Google Shape;1034;p61"/>
          <p:cNvSpPr txBox="1"/>
          <p:nvPr>
            <p:ph idx="7" type="subTitle"/>
          </p:nvPr>
        </p:nvSpPr>
        <p:spPr>
          <a:xfrm>
            <a:off x="4470225" y="1596250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Concepts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35" name="Google Shape;1035;p61"/>
          <p:cNvSpPr txBox="1"/>
          <p:nvPr>
            <p:ph idx="4294967295" type="title"/>
          </p:nvPr>
        </p:nvSpPr>
        <p:spPr>
          <a:xfrm>
            <a:off x="268475" y="49552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REST API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2"/>
          <p:cNvSpPr txBox="1"/>
          <p:nvPr>
            <p:ph idx="1" type="body"/>
          </p:nvPr>
        </p:nvSpPr>
        <p:spPr>
          <a:xfrm>
            <a:off x="228600" y="1608975"/>
            <a:ext cx="23949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Handles valid deposit, withdrawal, and transfer transactions. Uses @Transactional to enforce ACID on transactions.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1" name="Google Shape;1041;p62"/>
          <p:cNvSpPr txBox="1"/>
          <p:nvPr>
            <p:ph idx="2" type="body"/>
          </p:nvPr>
        </p:nvSpPr>
        <p:spPr>
          <a:xfrm>
            <a:off x="228600" y="3021175"/>
            <a:ext cx="2700000" cy="952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Contains e</a:t>
            </a:r>
            <a:r>
              <a:rPr lang="en"/>
              <a:t>ntities and the relationships between them, mapped to the database tables using JPA annotations such as @Entity and @Table. Example entities include transaction and types of transactions.</a:t>
            </a:r>
            <a:endParaRPr/>
          </a:p>
        </p:txBody>
      </p:sp>
      <p:sp>
        <p:nvSpPr>
          <p:cNvPr id="1042" name="Google Shape;1042;p62"/>
          <p:cNvSpPr txBox="1"/>
          <p:nvPr>
            <p:ph idx="3" type="body"/>
          </p:nvPr>
        </p:nvSpPr>
        <p:spPr>
          <a:xfrm>
            <a:off x="5900100" y="3021175"/>
            <a:ext cx="24117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 failed or invalid transactions. Each one carries its HTTP status and contract message and they are </a:t>
            </a:r>
            <a:r>
              <a:rPr lang="en"/>
              <a:t>thrown from the service layer.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3" name="Google Shape;1043;p62"/>
          <p:cNvSpPr txBox="1"/>
          <p:nvPr>
            <p:ph idx="4" type="body"/>
          </p:nvPr>
        </p:nvSpPr>
        <p:spPr>
          <a:xfrm>
            <a:off x="5900100" y="1608975"/>
            <a:ext cx="24117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Catches </a:t>
            </a:r>
            <a:r>
              <a:rPr lang="en"/>
              <a:t>exceptions from any controller, including validation errors and unexpected runtime errors. Returns the correct HTTP status and error body.</a:t>
            </a:r>
            <a:endParaRPr/>
          </a:p>
        </p:txBody>
      </p:sp>
      <p:sp>
        <p:nvSpPr>
          <p:cNvPr id="1044" name="Google Shape;1044;p62"/>
          <p:cNvSpPr txBox="1"/>
          <p:nvPr>
            <p:ph type="title"/>
          </p:nvPr>
        </p:nvSpPr>
        <p:spPr>
          <a:xfrm>
            <a:off x="38100" y="93150"/>
            <a:ext cx="18300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P2: Bank of CLI Full Stack</a:t>
            </a:r>
            <a:endParaRPr/>
          </a:p>
        </p:txBody>
      </p:sp>
      <p:sp>
        <p:nvSpPr>
          <p:cNvPr id="1045" name="Google Shape;1045;p62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Boot</a:t>
            </a:r>
            <a:endParaRPr/>
          </a:p>
        </p:txBody>
      </p:sp>
      <p:sp>
        <p:nvSpPr>
          <p:cNvPr id="1046" name="Google Shape;1046;p62"/>
          <p:cNvSpPr txBox="1"/>
          <p:nvPr>
            <p:ph idx="6" type="subTitle"/>
          </p:nvPr>
        </p:nvSpPr>
        <p:spPr>
          <a:xfrm>
            <a:off x="1972125" y="319775"/>
            <a:ext cx="45825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ra Medium"/>
                <a:ea typeface="Sora Medium"/>
                <a:cs typeface="Sora Medium"/>
                <a:sym typeface="Sora Medium"/>
              </a:rPr>
              <a:t>Transaction Service, Exceptions, Domain And Repository</a:t>
            </a:r>
            <a:endParaRPr sz="1400"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47" name="Google Shape;1047;p62"/>
          <p:cNvSpPr txBox="1"/>
          <p:nvPr>
            <p:ph idx="7" type="subTitle"/>
          </p:nvPr>
        </p:nvSpPr>
        <p:spPr>
          <a:xfrm>
            <a:off x="228600" y="1265950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 Service</a:t>
            </a:r>
            <a:endParaRPr/>
          </a:p>
        </p:txBody>
      </p:sp>
      <p:sp>
        <p:nvSpPr>
          <p:cNvPr id="1048" name="Google Shape;1048;p62"/>
          <p:cNvSpPr txBox="1"/>
          <p:nvPr>
            <p:ph idx="8" type="subTitle"/>
          </p:nvPr>
        </p:nvSpPr>
        <p:spPr>
          <a:xfrm>
            <a:off x="228600" y="2678150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</a:t>
            </a:r>
            <a:endParaRPr/>
          </a:p>
        </p:txBody>
      </p:sp>
      <p:sp>
        <p:nvSpPr>
          <p:cNvPr id="1049" name="Google Shape;1049;p62"/>
          <p:cNvSpPr txBox="1"/>
          <p:nvPr>
            <p:ph idx="9" type="subTitle"/>
          </p:nvPr>
        </p:nvSpPr>
        <p:spPr>
          <a:xfrm>
            <a:off x="5900100" y="2678150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Exceptions</a:t>
            </a:r>
            <a:endParaRPr/>
          </a:p>
        </p:txBody>
      </p:sp>
      <p:sp>
        <p:nvSpPr>
          <p:cNvPr id="1050" name="Google Shape;1050;p62"/>
          <p:cNvSpPr txBox="1"/>
          <p:nvPr>
            <p:ph idx="13" type="subTitle"/>
          </p:nvPr>
        </p:nvSpPr>
        <p:spPr>
          <a:xfrm>
            <a:off x="5900100" y="1265950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Exception Handler</a:t>
            </a:r>
            <a:endParaRPr/>
          </a:p>
        </p:txBody>
      </p:sp>
      <p:sp>
        <p:nvSpPr>
          <p:cNvPr id="1051" name="Google Shape;1051;p62"/>
          <p:cNvSpPr txBox="1"/>
          <p:nvPr>
            <p:ph idx="2" type="body"/>
          </p:nvPr>
        </p:nvSpPr>
        <p:spPr>
          <a:xfrm>
            <a:off x="3216900" y="1608150"/>
            <a:ext cx="2394900" cy="952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Contains</a:t>
            </a:r>
            <a:r>
              <a:rPr lang="en"/>
              <a:t> Interfaces used to persist accounts and transactions to the database using Spring Data  JPA (Hibernate).</a:t>
            </a:r>
            <a:endParaRPr/>
          </a:p>
        </p:txBody>
      </p:sp>
      <p:sp>
        <p:nvSpPr>
          <p:cNvPr id="1052" name="Google Shape;1052;p62"/>
          <p:cNvSpPr txBox="1"/>
          <p:nvPr>
            <p:ph idx="8" type="subTitle"/>
          </p:nvPr>
        </p:nvSpPr>
        <p:spPr>
          <a:xfrm>
            <a:off x="3216900" y="1265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Repository</a:t>
            </a:r>
            <a:endParaRPr/>
          </a:p>
        </p:txBody>
      </p:sp>
      <p:sp>
        <p:nvSpPr>
          <p:cNvPr id="1053" name="Google Shape;1053;p62"/>
          <p:cNvSpPr txBox="1"/>
          <p:nvPr>
            <p:ph idx="2" type="body"/>
          </p:nvPr>
        </p:nvSpPr>
        <p:spPr>
          <a:xfrm>
            <a:off x="3216900" y="3021175"/>
            <a:ext cx="2394900" cy="952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Prevents lost updates when two requests hit the same account at once. Each transaction locks the </a:t>
            </a:r>
            <a:r>
              <a:rPr lang="en"/>
              <a:t>account</a:t>
            </a:r>
            <a:r>
              <a:rPr lang="en"/>
              <a:t> row, and transfers lock the lower account ID first to avoid deadlocks.</a:t>
            </a:r>
            <a:endParaRPr/>
          </a:p>
        </p:txBody>
      </p:sp>
      <p:sp>
        <p:nvSpPr>
          <p:cNvPr id="1054" name="Google Shape;1054;p62"/>
          <p:cNvSpPr txBox="1"/>
          <p:nvPr>
            <p:ph idx="8" type="subTitle"/>
          </p:nvPr>
        </p:nvSpPr>
        <p:spPr>
          <a:xfrm>
            <a:off x="3216900" y="2678150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 Locking</a:t>
            </a:r>
            <a:endParaRPr/>
          </a:p>
        </p:txBody>
      </p:sp>
      <p:sp>
        <p:nvSpPr>
          <p:cNvPr id="1055" name="Google Shape;1055;p6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/ October</a:t>
            </a:r>
            <a:endParaRPr/>
          </a:p>
        </p:txBody>
      </p:sp>
      <p:sp>
        <p:nvSpPr>
          <p:cNvPr id="1056" name="Google Shape;1056;p62"/>
          <p:cNvSpPr txBox="1"/>
          <p:nvPr/>
        </p:nvSpPr>
        <p:spPr>
          <a:xfrm>
            <a:off x="435075" y="4082225"/>
            <a:ext cx="81213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15 JUnit 5 and Mockito unit tests cover deposits, withdrawals and transfers. MockMvc tests confirm that each error returns the correct status and contract message. CI runs every test on each pull request.</a:t>
            </a:r>
            <a:endParaRPr sz="10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FEFEF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3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</a:t>
            </a:r>
            <a:endParaRPr/>
          </a:p>
        </p:txBody>
      </p:sp>
      <p:sp>
        <p:nvSpPr>
          <p:cNvPr id="1062" name="Google Shape;1062;p63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Hosting Database And Deploying Application</a:t>
            </a:r>
            <a:endParaRPr/>
          </a:p>
        </p:txBody>
      </p:sp>
      <p:sp>
        <p:nvSpPr>
          <p:cNvPr id="1063" name="Google Shape;1063;p63"/>
          <p:cNvSpPr txBox="1"/>
          <p:nvPr>
            <p:ph type="title"/>
          </p:nvPr>
        </p:nvSpPr>
        <p:spPr>
          <a:xfrm>
            <a:off x="38100" y="93150"/>
            <a:ext cx="21297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P2: Bank of CLI Full Stack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63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/ October</a:t>
            </a:r>
            <a:endParaRPr/>
          </a:p>
        </p:txBody>
      </p:sp>
      <p:sp>
        <p:nvSpPr>
          <p:cNvPr id="1065" name="Google Shape;1065;p63"/>
          <p:cNvSpPr txBox="1"/>
          <p:nvPr/>
        </p:nvSpPr>
        <p:spPr>
          <a:xfrm>
            <a:off x="388675" y="1846575"/>
            <a:ext cx="1538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6" name="Google Shape;1066;p63"/>
          <p:cNvSpPr txBox="1"/>
          <p:nvPr/>
        </p:nvSpPr>
        <p:spPr>
          <a:xfrm>
            <a:off x="2704675" y="1906179"/>
            <a:ext cx="1538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Amazon CloudFront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Google Shape;1067;p63"/>
          <p:cNvSpPr txBox="1"/>
          <p:nvPr/>
        </p:nvSpPr>
        <p:spPr>
          <a:xfrm>
            <a:off x="5043487" y="1909813"/>
            <a:ext cx="1281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Amazon ECS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63"/>
          <p:cNvSpPr txBox="1"/>
          <p:nvPr/>
        </p:nvSpPr>
        <p:spPr>
          <a:xfrm>
            <a:off x="7217225" y="1921001"/>
            <a:ext cx="1538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Amazon RDS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p63"/>
          <p:cNvSpPr txBox="1"/>
          <p:nvPr/>
        </p:nvSpPr>
        <p:spPr>
          <a:xfrm>
            <a:off x="4929125" y="3765414"/>
            <a:ext cx="1538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Amazon </a:t>
            </a: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ECR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0" name="Google Shape;107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525" y="222906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63" title="amazon-cloudfront-1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6525" y="2232788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0974" y="2236438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8175" y="225042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69625" y="4089138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63"/>
          <p:cNvSpPr/>
          <p:nvPr/>
        </p:nvSpPr>
        <p:spPr>
          <a:xfrm>
            <a:off x="1734175" y="2547650"/>
            <a:ext cx="11631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6" name="Google Shape;1076;p63"/>
          <p:cNvSpPr txBox="1"/>
          <p:nvPr/>
        </p:nvSpPr>
        <p:spPr>
          <a:xfrm>
            <a:off x="1714450" y="2377775"/>
            <a:ext cx="1062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Request Forwarded</a:t>
            </a:r>
            <a:endParaRPr sz="7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7" name="Google Shape;1077;p63"/>
          <p:cNvSpPr/>
          <p:nvPr/>
        </p:nvSpPr>
        <p:spPr>
          <a:xfrm>
            <a:off x="4023513" y="2560250"/>
            <a:ext cx="11631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8" name="Google Shape;1078;p63"/>
          <p:cNvSpPr txBox="1"/>
          <p:nvPr/>
        </p:nvSpPr>
        <p:spPr>
          <a:xfrm>
            <a:off x="4003788" y="2390375"/>
            <a:ext cx="1062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API</a:t>
            </a:r>
            <a:r>
              <a:rPr lang="en" sz="7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Forwarded</a:t>
            </a:r>
            <a:endParaRPr sz="7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9" name="Google Shape;1079;p63"/>
          <p:cNvSpPr/>
          <p:nvPr/>
        </p:nvSpPr>
        <p:spPr>
          <a:xfrm>
            <a:off x="5829725" y="1682700"/>
            <a:ext cx="2299200" cy="365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80" name="Google Shape;1080;p63"/>
          <p:cNvSpPr/>
          <p:nvPr/>
        </p:nvSpPr>
        <p:spPr>
          <a:xfrm rot="10800000">
            <a:off x="5831815" y="3173163"/>
            <a:ext cx="2295000" cy="365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81" name="Google Shape;1081;p63"/>
          <p:cNvSpPr txBox="1"/>
          <p:nvPr/>
        </p:nvSpPr>
        <p:spPr>
          <a:xfrm>
            <a:off x="6499888" y="1443700"/>
            <a:ext cx="1062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Request Queried</a:t>
            </a:r>
            <a:endParaRPr sz="7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82" name="Google Shape;1082;p63"/>
          <p:cNvSpPr/>
          <p:nvPr/>
        </p:nvSpPr>
        <p:spPr>
          <a:xfrm rot="-5398496">
            <a:off x="5355275" y="3457125"/>
            <a:ext cx="685800" cy="19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83" name="Google Shape;1083;p63"/>
          <p:cNvSpPr/>
          <p:nvPr/>
        </p:nvSpPr>
        <p:spPr>
          <a:xfrm rot="10800000">
            <a:off x="3610325" y="3209475"/>
            <a:ext cx="1954200" cy="365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84" name="Google Shape;1084;p63"/>
          <p:cNvSpPr/>
          <p:nvPr/>
        </p:nvSpPr>
        <p:spPr>
          <a:xfrm rot="10800000">
            <a:off x="1128675" y="3209475"/>
            <a:ext cx="2253600" cy="365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64"/>
          <p:cNvSpPr txBox="1"/>
          <p:nvPr>
            <p:ph idx="1" type="body"/>
          </p:nvPr>
        </p:nvSpPr>
        <p:spPr>
          <a:xfrm>
            <a:off x="228575" y="3044175"/>
            <a:ext cx="2283900" cy="1591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ID (auto-incremented)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Email (unique and case-insensitive)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First and last name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Hashed password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Balance in cents (default 0, never negative)</a:t>
            </a:r>
            <a:endParaRPr/>
          </a:p>
        </p:txBody>
      </p:sp>
      <p:sp>
        <p:nvSpPr>
          <p:cNvPr id="1090" name="Google Shape;1090;p64"/>
          <p:cNvSpPr txBox="1"/>
          <p:nvPr>
            <p:ph idx="2" type="body"/>
          </p:nvPr>
        </p:nvSpPr>
        <p:spPr>
          <a:xfrm>
            <a:off x="5401325" y="4106850"/>
            <a:ext cx="35034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Last line of defense for data integrity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Relationships NULLed depending on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Self-transfers are forbidden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Bank transactions handle $10,000 maximum</a:t>
            </a:r>
            <a:endParaRPr/>
          </a:p>
        </p:txBody>
      </p:sp>
      <p:sp>
        <p:nvSpPr>
          <p:cNvPr id="1091" name="Google Shape;1091;p64"/>
          <p:cNvSpPr txBox="1"/>
          <p:nvPr>
            <p:ph type="title"/>
          </p:nvPr>
        </p:nvSpPr>
        <p:spPr>
          <a:xfrm>
            <a:off x="38100" y="93150"/>
            <a:ext cx="18231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P2: Bank of CLI Full Stack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64"/>
          <p:cNvSpPr txBox="1"/>
          <p:nvPr>
            <p:ph idx="5" type="title"/>
          </p:nvPr>
        </p:nvSpPr>
        <p:spPr>
          <a:xfrm>
            <a:off x="38100" y="319650"/>
            <a:ext cx="2129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Schema</a:t>
            </a:r>
            <a:endParaRPr/>
          </a:p>
        </p:txBody>
      </p:sp>
      <p:sp>
        <p:nvSpPr>
          <p:cNvPr id="1093" name="Google Shape;1093;p64"/>
          <p:cNvSpPr txBox="1"/>
          <p:nvPr>
            <p:ph idx="6" type="subTitle"/>
          </p:nvPr>
        </p:nvSpPr>
        <p:spPr>
          <a:xfrm>
            <a:off x="2176500" y="319800"/>
            <a:ext cx="2893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structure of our PostgreSQL database</a:t>
            </a:r>
            <a:endParaRPr/>
          </a:p>
        </p:txBody>
      </p:sp>
      <p:sp>
        <p:nvSpPr>
          <p:cNvPr id="1094" name="Google Shape;1094;p64"/>
          <p:cNvSpPr txBox="1"/>
          <p:nvPr>
            <p:ph idx="7" type="subTitle"/>
          </p:nvPr>
        </p:nvSpPr>
        <p:spPr>
          <a:xfrm>
            <a:off x="228575" y="2659850"/>
            <a:ext cx="23211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</a:t>
            </a:r>
            <a:endParaRPr/>
          </a:p>
        </p:txBody>
      </p:sp>
      <p:sp>
        <p:nvSpPr>
          <p:cNvPr id="1095" name="Google Shape;1095;p64"/>
          <p:cNvSpPr txBox="1"/>
          <p:nvPr>
            <p:ph idx="8" type="subTitle"/>
          </p:nvPr>
        </p:nvSpPr>
        <p:spPr>
          <a:xfrm>
            <a:off x="5389375" y="3758350"/>
            <a:ext cx="27000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Bank Transaction Constraints</a:t>
            </a:r>
            <a:endParaRPr/>
          </a:p>
        </p:txBody>
      </p:sp>
      <p:sp>
        <p:nvSpPr>
          <p:cNvPr id="1096" name="Google Shape;1096;p6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/ October</a:t>
            </a:r>
            <a:endParaRPr/>
          </a:p>
        </p:txBody>
      </p:sp>
      <p:pic>
        <p:nvPicPr>
          <p:cNvPr id="1097" name="Google Shape;1097;p64" title="eer_diagram.png"/>
          <p:cNvPicPr preferRelativeResize="0"/>
          <p:nvPr/>
        </p:nvPicPr>
        <p:blipFill rotWithShape="1">
          <a:blip r:embed="rId4">
            <a:alphaModFix/>
          </a:blip>
          <a:srcRect b="26206" l="0" r="0" t="5762"/>
          <a:stretch/>
        </p:blipFill>
        <p:spPr>
          <a:xfrm>
            <a:off x="228600" y="877050"/>
            <a:ext cx="4841362" cy="1543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0850" y="242662"/>
            <a:ext cx="3552400" cy="3305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64"/>
          <p:cNvSpPr txBox="1"/>
          <p:nvPr>
            <p:ph idx="1" type="body"/>
          </p:nvPr>
        </p:nvSpPr>
        <p:spPr>
          <a:xfrm>
            <a:off x="2735500" y="3044175"/>
            <a:ext cx="2283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ID (auto-incremented)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Type (‘deposit’, ‘withdrawal’, or ‘transfer’)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Money amount in cents (always positive)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Timestamp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Memo (for use in the future)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Sender and recipient accounts</a:t>
            </a:r>
            <a:endParaRPr/>
          </a:p>
        </p:txBody>
      </p:sp>
      <p:sp>
        <p:nvSpPr>
          <p:cNvPr id="1100" name="Google Shape;1100;p64"/>
          <p:cNvSpPr txBox="1"/>
          <p:nvPr>
            <p:ph idx="7" type="subTitle"/>
          </p:nvPr>
        </p:nvSpPr>
        <p:spPr>
          <a:xfrm>
            <a:off x="2735525" y="2659850"/>
            <a:ext cx="2283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Bank Transaction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65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66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